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Writing a persuasive notice for a clean barangay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Learners write a short persuasive notice that asks neighbours to segregate waste, using reasons and a call to 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What makes people act?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Look at two notices. Which one would make you follow it?</a:t>
            </a:r>
          </a:p>
          <a:p>
            <a:r>
              <a:rPr lang="en-US" sz="2400">
                <a:solidFill>
                  <a:srgbClr val="332C27"/>
                </a:solidFill>
              </a:rPr>
              <a:t>Persuasive writing = a clear request + reasons + a call to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Plan your notice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Who will read it?</a:t>
            </a:r>
          </a:p>
          <a:p>
            <a:r>
              <a:rPr lang="en-US" sz="2400">
                <a:solidFill>
                  <a:srgbClr val="332C27"/>
                </a:solidFill>
              </a:rPr>
              <a:t>What do you want them to do?</a:t>
            </a:r>
          </a:p>
          <a:p>
            <a:r>
              <a:rPr lang="en-US" sz="2400">
                <a:solidFill>
                  <a:srgbClr val="332C27"/>
                </a:solidFill>
              </a:rPr>
              <a:t>Give two reasons they will care about.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Write and share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Write a notice of 4 to 6 sentences.</a:t>
            </a:r>
          </a:p>
          <a:p>
            <a:r>
              <a:rPr lang="en-US" sz="2400">
                <a:solidFill>
                  <a:srgbClr val="332C27"/>
                </a:solidFill>
              </a:rPr>
              <a:t>Swap with a partner: is the request clear?</a:t>
            </a:r>
          </a:p>
          <a:p>
            <a:r>
              <a:rPr lang="en-US" sz="2400">
                <a:solidFill>
                  <a:srgbClr val="332C27"/>
                </a:solidFill>
              </a:rPr>
              <a:t>Revise one sentence to make it stronger.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erIt sample">
  <a:themeElements>
    <a:clrScheme name="CherIt">
      <a:dk1>
        <a:srgbClr val="332C27"/>
      </a:dk1>
      <a:lt1>
        <a:srgbClr val="FFFFFF"/>
      </a:lt1>
      <a:dk2>
        <a:srgbClr val="6E655F"/>
      </a:dk2>
      <a:lt2>
        <a:srgbClr val="FAF7F2"/>
      </a:lt2>
      <a:accent1>
        <a:srgbClr val="8C6D79"/>
      </a:accent1>
      <a:accent2>
        <a:srgbClr val="7A8B68"/>
      </a:accent2>
      <a:accent3>
        <a:srgbClr val="EFECE6"/>
      </a:accent3>
      <a:accent4>
        <a:srgbClr val="6F5560"/>
      </a:accent4>
      <a:accent5>
        <a:srgbClr val="9B2C2C"/>
      </a:accent5>
      <a:accent6>
        <a:srgbClr val="B9AEA4"/>
      </a:accent6>
      <a:hlink>
        <a:srgbClr val="8C6D79"/>
      </a:hlink>
      <a:folHlink>
        <a:srgbClr val="6F5560"/>
      </a:folHlink>
    </a:clrScheme>
    <a:fontScheme name="Cher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er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