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rgbClr val="8C6D79"/>
                </a:solidFill>
              </a:rPr>
              <a:t>Measuring area with the school court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828800"/>
            <a:ext cx="10820400" cy="4343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2400">
                <a:solidFill>
                  <a:srgbClr val="332C27"/>
                </a:solidFill>
              </a:rPr>
              <a:t>Learners compute the area of rectangles using the school basketball court and classroom floor tiles.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rgbClr val="8C6D79"/>
                </a:solidFill>
              </a:rPr>
              <a:t>How big is our court?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828800"/>
            <a:ext cx="10820400" cy="4343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2400">
                <a:solidFill>
                  <a:srgbClr val="332C27"/>
                </a:solidFill>
              </a:rPr>
              <a:t>Guess first: how many classrooms fit on the court?</a:t>
            </a:r>
          </a:p>
          <a:p>
            <a:r>
              <a:rPr lang="en-US" sz="2400">
                <a:solidFill>
                  <a:srgbClr val="332C27"/>
                </a:solidFill>
              </a:rPr>
              <a:t>Today we measure, then compute area = length x width.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rgbClr val="8C6D79"/>
                </a:solidFill>
              </a:rPr>
              <a:t>Measure in groups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828800"/>
            <a:ext cx="10820400" cy="4343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2400">
                <a:solidFill>
                  <a:srgbClr val="332C27"/>
                </a:solidFill>
              </a:rPr>
              <a:t>Group 1: length of the court (paces, then metres)</a:t>
            </a:r>
          </a:p>
          <a:p>
            <a:r>
              <a:rPr lang="en-US" sz="2400">
                <a:solidFill>
                  <a:srgbClr val="332C27"/>
                </a:solidFill>
              </a:rPr>
              <a:t>Group 2: width of the court</a:t>
            </a:r>
          </a:p>
          <a:p>
            <a:r>
              <a:rPr lang="en-US" sz="2400">
                <a:solidFill>
                  <a:srgbClr val="332C27"/>
                </a:solidFill>
              </a:rPr>
              <a:t>Group 3: one floor tile in the classroom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457200"/>
            <a:ext cx="10820400" cy="11430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4000" b="1">
                <a:solidFill>
                  <a:srgbClr val="8C6D79"/>
                </a:solidFill>
              </a:rPr>
              <a:t>Compute and compare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85800" y="1828800"/>
            <a:ext cx="10820400" cy="4343400"/>
          </a:xfrm>
          <a:prstGeom prst="rect">
            <a:avLst/>
          </a:prstGeom>
        </p:spPr>
        <p:txBody>
          <a:bodyPr wrap="square" rtlCol="0">
            <a:normAutofit/>
          </a:bodyPr>
          <a:lstStyle/>
          <a:p>
            <a:r>
              <a:rPr lang="en-US" sz="2400">
                <a:solidFill>
                  <a:srgbClr val="332C27"/>
                </a:solidFill>
              </a:rPr>
              <a:t>Area of the court = length x width</a:t>
            </a:r>
          </a:p>
          <a:p>
            <a:r>
              <a:rPr lang="en-US" sz="2400">
                <a:solidFill>
                  <a:srgbClr val="332C27"/>
                </a:solidFill>
              </a:rPr>
              <a:t>How many tiles would cover the court?</a:t>
            </a:r>
          </a:p>
          <a:p>
            <a:r>
              <a:rPr lang="en-US" sz="2400">
                <a:solidFill>
                  <a:srgbClr val="332C27"/>
                </a:solidFill>
              </a:rPr>
              <a:t>Was your guess close?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CherIt sample">
  <a:themeElements>
    <a:clrScheme name="CherIt">
      <a:dk1>
        <a:srgbClr val="332C27"/>
      </a:dk1>
      <a:lt1>
        <a:srgbClr val="FFFFFF"/>
      </a:lt1>
      <a:dk2>
        <a:srgbClr val="6E655F"/>
      </a:dk2>
      <a:lt2>
        <a:srgbClr val="FAF7F2"/>
      </a:lt2>
      <a:accent1>
        <a:srgbClr val="8C6D79"/>
      </a:accent1>
      <a:accent2>
        <a:srgbClr val="7A8B68"/>
      </a:accent2>
      <a:accent3>
        <a:srgbClr val="EFECE6"/>
      </a:accent3>
      <a:accent4>
        <a:srgbClr val="6F5560"/>
      </a:accent4>
      <a:accent5>
        <a:srgbClr val="9B2C2C"/>
      </a:accent5>
      <a:accent6>
        <a:srgbClr val="B9AEA4"/>
      </a:accent6>
      <a:hlink>
        <a:srgbClr val="8C6D79"/>
      </a:hlink>
      <a:folHlink>
        <a:srgbClr val="6F5560"/>
      </a:folHlink>
    </a:clrScheme>
    <a:fontScheme name="CherI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erI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9050">
          <a:solidFill>
            <a:schemeClr val="phClr"/>
          </a:solidFill>
        </a:ln>
        <a:ln w="2857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